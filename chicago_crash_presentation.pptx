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9" r:id="rId1"/>
  </p:sldMasterIdLst>
  <p:sldIdLst>
    <p:sldId id="256" r:id="rId2"/>
    <p:sldId id="271" r:id="rId3"/>
    <p:sldId id="257" r:id="rId4"/>
    <p:sldId id="258" r:id="rId5"/>
    <p:sldId id="259" r:id="rId6"/>
    <p:sldId id="260" r:id="rId7"/>
    <p:sldId id="261" r:id="rId8"/>
    <p:sldId id="262" r:id="rId9"/>
    <p:sldId id="263" r:id="rId10"/>
    <p:sldId id="264" r:id="rId11"/>
    <p:sldId id="266" r:id="rId12"/>
    <p:sldId id="270" r:id="rId13"/>
    <p:sldId id="267" r:id="rId14"/>
    <p:sldId id="268" r:id="rId15"/>
    <p:sldId id="269"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58" d="100"/>
          <a:sy n="58" d="100"/>
        </p:scale>
        <p:origin x="1518" y="51"/>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69804" cy="6874935"/>
            <a:chOff x="-8466" y="-8468"/>
            <a:chExt cx="9169804" cy="6874935"/>
          </a:xfrm>
        </p:grpSpPr>
        <p:cxnSp>
          <p:nvCxnSpPr>
            <p:cNvPr id="17" name="Straight Connector 16"/>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9" name="Freeform 1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0" name="Freeform 1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1" name="Freeform 2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2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Freeform 2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Freeform 23"/>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Freeform 24"/>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Freeform 2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883756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00311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775126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339539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4527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3/17/2026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22460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81084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83315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83488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619340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4039573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243827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5510365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37958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457983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545138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69805" cy="6874935"/>
            <a:chOff x="-8467" y="-8468"/>
            <a:chExt cx="9169805" cy="6874935"/>
          </a:xfrm>
        </p:grpSpPr>
        <p:sp>
          <p:nvSpPr>
            <p:cNvPr id="7" name="Freeform 6"/>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8" name="Straight Connector 7"/>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0" name="Freeform 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1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2" name="Freeform 1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Freeform 1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Freeform 1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Freeform 14"/>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Freeform 15"/>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3/17/2026</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40634750"/>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Chicago Car Crash Prediction</a:t>
            </a:r>
          </a:p>
        </p:txBody>
      </p:sp>
      <p:sp>
        <p:nvSpPr>
          <p:cNvPr id="3" name="Content Placeholder 2"/>
          <p:cNvSpPr>
            <a:spLocks noGrp="1"/>
          </p:cNvSpPr>
          <p:nvPr>
            <p:ph idx="1"/>
          </p:nvPr>
        </p:nvSpPr>
        <p:spPr/>
        <p:txBody>
          <a:bodyPr/>
          <a:lstStyle/>
          <a:p>
            <a:r>
              <a:rPr b="1" dirty="0">
                <a:latin typeface="Times New Roman" panose="02020603050405020304" pitchFamily="18" charset="0"/>
                <a:cs typeface="Times New Roman" panose="02020603050405020304" pitchFamily="18" charset="0"/>
              </a:rPr>
              <a:t>Predicting injury outcomes using machine learning</a:t>
            </a:r>
          </a:p>
          <a:p>
            <a:r>
              <a:rPr b="1" dirty="0">
                <a:latin typeface="Times New Roman" panose="02020603050405020304" pitchFamily="18" charset="0"/>
                <a:cs typeface="Times New Roman" panose="02020603050405020304" pitchFamily="18" charset="0"/>
              </a:rPr>
              <a:t>Dataset: Chicago crashes (2019–2022)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7C047B96-9825-345C-EDA7-E40D5BD393CA}"/>
              </a:ext>
            </a:extLst>
          </p:cNvPr>
          <p:cNvPicPr>
            <a:picLocks noGrp="1" noChangeAspect="1"/>
          </p:cNvPicPr>
          <p:nvPr>
            <p:ph type="pic" idx="1"/>
          </p:nvPr>
        </p:nvPicPr>
        <p:blipFill>
          <a:blip r:embed="rId2"/>
          <a:srcRect t="4576" b="4576"/>
          <a:stretch>
            <a:fillRect/>
          </a:stretch>
        </p:blipFill>
        <p:spPr>
          <a:xfrm>
            <a:off x="609599" y="609599"/>
            <a:ext cx="7600898" cy="5395785"/>
          </a:xfrm>
        </p:spPr>
      </p:pic>
    </p:spTree>
    <p:extLst>
      <p:ext uri="{BB962C8B-B14F-4D97-AF65-F5344CB8AC3E}">
        <p14:creationId xmlns:p14="http://schemas.microsoft.com/office/powerpoint/2010/main" val="2523604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Business Problem</a:t>
            </a:r>
          </a:p>
        </p:txBody>
      </p:sp>
      <p:sp>
        <p:nvSpPr>
          <p:cNvPr id="3" name="Content Placeholder 2"/>
          <p:cNvSpPr>
            <a:spLocks noGrp="1"/>
          </p:cNvSpPr>
          <p:nvPr>
            <p:ph idx="1"/>
          </p:nvPr>
        </p:nvSpPr>
        <p:spPr/>
        <p:txBody>
          <a:bodyPr>
            <a:normAutofit/>
          </a:bodyPr>
          <a:lstStyle/>
          <a:p>
            <a:r>
              <a:rPr lang="en-US" b="1" dirty="0">
                <a:latin typeface="Times New Roman" panose="02020603050405020304" pitchFamily="18" charset="0"/>
                <a:cs typeface="Times New Roman" panose="02020603050405020304" pitchFamily="18" charset="0"/>
              </a:rPr>
              <a:t>Traffic accidents are a major concern in Chicago. Understanding the conditions that lead to severe crashes will help the Vehicle safety board.</a:t>
            </a:r>
          </a:p>
          <a:p>
            <a:r>
              <a:rPr lang="en-US" b="1" dirty="0">
                <a:latin typeface="Times New Roman" panose="02020603050405020304" pitchFamily="18" charset="0"/>
                <a:cs typeface="Times New Roman" panose="02020603050405020304" pitchFamily="18" charset="0"/>
              </a:rPr>
              <a:t>This project aims to build a classification model that predicts whether a car crash will result in injuries based on environmental factors or other factors. The insights from this model will help identify high risk conditions and implement preventive measures to improve road safety.</a:t>
            </a:r>
            <a:br>
              <a:rPr lang="en-US" b="1" dirty="0">
                <a:latin typeface="Times New Roman" panose="02020603050405020304" pitchFamily="18" charset="0"/>
                <a:cs typeface="Times New Roman" panose="02020603050405020304" pitchFamily="18" charset="0"/>
              </a:rPr>
            </a:br>
            <a:endParaRPr lang="en-US"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Stakeholders</a:t>
            </a:r>
          </a:p>
        </p:txBody>
      </p:sp>
      <p:sp>
        <p:nvSpPr>
          <p:cNvPr id="3" name="Content Placeholder 2"/>
          <p:cNvSpPr>
            <a:spLocks noGrp="1"/>
          </p:cNvSpPr>
          <p:nvPr>
            <p:ph idx="1"/>
          </p:nvPr>
        </p:nvSpPr>
        <p:spPr/>
        <p:txBody>
          <a:bodyPr/>
          <a:lstStyle/>
          <a:p>
            <a:r>
              <a:rPr b="1" dirty="0">
                <a:latin typeface="Times New Roman" panose="02020603050405020304" pitchFamily="18" charset="0"/>
                <a:cs typeface="Times New Roman" panose="02020603050405020304" pitchFamily="18" charset="0"/>
              </a:rPr>
              <a:t>Vehicle Safety Board</a:t>
            </a:r>
            <a:endParaRPr lang="en-US" b="1"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Responsible for road safety</a:t>
            </a:r>
          </a:p>
          <a:p>
            <a:pPr>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Implement safety programs</a:t>
            </a:r>
          </a:p>
          <a:p>
            <a:pPr>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They will use this model to identify high risk driving </a:t>
            </a:r>
          </a:p>
          <a:p>
            <a:endParaRPr b="1" dirty="0">
              <a:latin typeface="Times New Roman" panose="02020603050405020304" pitchFamily="18" charset="0"/>
              <a:cs typeface="Times New Roman" panose="02020603050405020304" pitchFamily="18" charset="0"/>
            </a:endParaRPr>
          </a:p>
          <a:p>
            <a:r>
              <a:rPr b="1" dirty="0">
                <a:latin typeface="Times New Roman" panose="02020603050405020304" pitchFamily="18" charset="0"/>
                <a:cs typeface="Times New Roman" panose="02020603050405020304" pitchFamily="18" charset="0"/>
              </a:rPr>
              <a:t>City of Chicago</a:t>
            </a:r>
            <a:endParaRPr lang="en-US" b="1"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Responsible for transportation infrastructure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Key Questions</a:t>
            </a:r>
          </a:p>
        </p:txBody>
      </p:sp>
      <p:sp>
        <p:nvSpPr>
          <p:cNvPr id="3" name="Content Placeholder 2"/>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What factors contribute to most crashes?</a:t>
            </a:r>
          </a:p>
          <a:p>
            <a:r>
              <a:rPr lang="en-US" b="1" dirty="0">
                <a:latin typeface="Times New Roman" panose="02020603050405020304" pitchFamily="18" charset="0"/>
                <a:cs typeface="Times New Roman" panose="02020603050405020304" pitchFamily="18" charset="0"/>
              </a:rPr>
              <a:t>Under what conditions are crashes most likely to result in injuries?</a:t>
            </a:r>
          </a:p>
          <a:p>
            <a:r>
              <a:rPr lang="en-US" b="1" dirty="0">
                <a:latin typeface="Times New Roman" panose="02020603050405020304" pitchFamily="18" charset="0"/>
                <a:cs typeface="Times New Roman" panose="02020603050405020304" pitchFamily="18" charset="0"/>
              </a:rPr>
              <a:t>Can we predict whether a crash will result in injuries based on environmental conditions?</a:t>
            </a:r>
          </a:p>
          <a:p>
            <a:r>
              <a:rPr lang="en-US" b="1" dirty="0">
                <a:latin typeface="Times New Roman" panose="02020603050405020304" pitchFamily="18" charset="0"/>
                <a:cs typeface="Times New Roman" panose="02020603050405020304" pitchFamily="18" charset="0"/>
              </a:rPr>
              <a:t>Can we predict the primary contributory cause of accidents?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Data Understanding</a:t>
            </a:r>
          </a:p>
        </p:txBody>
      </p:sp>
      <p:sp>
        <p:nvSpPr>
          <p:cNvPr id="3" name="Content Placeholder 2"/>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The dataset we are using has been obtained from </a:t>
            </a:r>
            <a:r>
              <a:rPr lang="en-US" b="1" dirty="0" err="1">
                <a:latin typeface="Times New Roman" panose="02020603050405020304" pitchFamily="18" charset="0"/>
                <a:cs typeface="Times New Roman" panose="02020603050405020304" pitchFamily="18" charset="0"/>
              </a:rPr>
              <a:t>kaggle</a:t>
            </a:r>
            <a:r>
              <a:rPr lang="en-US" b="1" dirty="0">
                <a:latin typeface="Times New Roman" panose="02020603050405020304" pitchFamily="18" charset="0"/>
                <a:cs typeface="Times New Roman" panose="02020603050405020304" pitchFamily="18" charset="0"/>
              </a:rPr>
              <a:t>, it contains car crashes in </a:t>
            </a:r>
            <a:r>
              <a:rPr lang="en-US" b="1" dirty="0" err="1">
                <a:latin typeface="Times New Roman" panose="02020603050405020304" pitchFamily="18" charset="0"/>
                <a:cs typeface="Times New Roman" panose="02020603050405020304" pitchFamily="18" charset="0"/>
              </a:rPr>
              <a:t>chicago</a:t>
            </a:r>
            <a:r>
              <a:rPr lang="en-US" b="1" dirty="0">
                <a:latin typeface="Times New Roman" panose="02020603050405020304" pitchFamily="18" charset="0"/>
                <a:cs typeface="Times New Roman" panose="02020603050405020304" pitchFamily="18" charset="0"/>
              </a:rPr>
              <a:t> from 2019 to 2022. Its </a:t>
            </a:r>
            <a:r>
              <a:rPr lang="en-US" b="1" dirty="0" err="1">
                <a:latin typeface="Times New Roman" panose="02020603050405020304" pitchFamily="18" charset="0"/>
                <a:cs typeface="Times New Roman" panose="02020603050405020304" pitchFamily="18" charset="0"/>
              </a:rPr>
              <a:t>particulary</a:t>
            </a:r>
            <a:r>
              <a:rPr lang="en-US" b="1" dirty="0">
                <a:latin typeface="Times New Roman" panose="02020603050405020304" pitchFamily="18" charset="0"/>
                <a:cs typeface="Times New Roman" panose="02020603050405020304" pitchFamily="18" charset="0"/>
              </a:rPr>
              <a:t> useful because it includes car crash variables and environmental factors that influence crash outcomes. It allows us to analyze patterns in traffic accidents.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Data Preparation</a:t>
            </a:r>
          </a:p>
        </p:txBody>
      </p:sp>
      <p:sp>
        <p:nvSpPr>
          <p:cNvPr id="3" name="Content Placeholder 2"/>
          <p:cNvSpPr>
            <a:spLocks noGrp="1"/>
          </p:cNvSpPr>
          <p:nvPr>
            <p:ph idx="1"/>
          </p:nvPr>
        </p:nvSpPr>
        <p:spPr/>
        <p:txBody>
          <a:bodyPr>
            <a:normAutofit fontScale="92500" lnSpcReduction="20000"/>
          </a:bodyPr>
          <a:lstStyle/>
          <a:p>
            <a:r>
              <a:rPr lang="en-US" b="1" dirty="0">
                <a:latin typeface="Times New Roman" panose="02020603050405020304" pitchFamily="18" charset="0"/>
                <a:cs typeface="Times New Roman" panose="02020603050405020304" pitchFamily="18" charset="0"/>
              </a:rPr>
              <a:t>Several preprocessing steps were performed before training the models:</a:t>
            </a:r>
          </a:p>
          <a:p>
            <a:r>
              <a:rPr lang="en-US" b="1" dirty="0">
                <a:latin typeface="Times New Roman" panose="02020603050405020304" pitchFamily="18" charset="0"/>
                <a:cs typeface="Times New Roman" panose="02020603050405020304" pitchFamily="18" charset="0"/>
              </a:rPr>
              <a:t>Cleaning missing values</a:t>
            </a:r>
          </a:p>
          <a:p>
            <a:r>
              <a:rPr lang="en-US" b="1" dirty="0">
                <a:latin typeface="Times New Roman" panose="02020603050405020304" pitchFamily="18" charset="0"/>
                <a:cs typeface="Times New Roman" panose="02020603050405020304" pitchFamily="18" charset="0"/>
              </a:rPr>
              <a:t>Mapping injury values to numeric format</a:t>
            </a:r>
          </a:p>
          <a:p>
            <a:r>
              <a:rPr lang="en-US" b="1" dirty="0">
                <a:latin typeface="Times New Roman" panose="02020603050405020304" pitchFamily="18" charset="0"/>
                <a:cs typeface="Times New Roman" panose="02020603050405020304" pitchFamily="18" charset="0"/>
              </a:rPr>
              <a:t>Creating a binary target variable (`</a:t>
            </a:r>
            <a:r>
              <a:rPr lang="en-US" b="1" dirty="0" err="1">
                <a:latin typeface="Times New Roman" panose="02020603050405020304" pitchFamily="18" charset="0"/>
                <a:cs typeface="Times New Roman" panose="02020603050405020304" pitchFamily="18" charset="0"/>
              </a:rPr>
              <a:t>crash_severity_class</a:t>
            </a:r>
            <a:r>
              <a:rPr lang="en-US" b="1" dirty="0">
                <a:latin typeface="Times New Roman" panose="02020603050405020304" pitchFamily="18" charset="0"/>
                <a:cs typeface="Times New Roman" panose="02020603050405020304" pitchFamily="18" charset="0"/>
              </a:rPr>
              <a:t>`)</a:t>
            </a:r>
          </a:p>
          <a:p>
            <a:r>
              <a:rPr lang="en-US" b="1" dirty="0">
                <a:latin typeface="Times New Roman" panose="02020603050405020304" pitchFamily="18" charset="0"/>
                <a:cs typeface="Times New Roman" panose="02020603050405020304" pitchFamily="18" charset="0"/>
              </a:rPr>
              <a:t> Feature engineering from crash dates</a:t>
            </a:r>
          </a:p>
          <a:p>
            <a:r>
              <a:rPr lang="en-US" b="1" dirty="0">
                <a:latin typeface="Times New Roman" panose="02020603050405020304" pitchFamily="18" charset="0"/>
                <a:cs typeface="Times New Roman" panose="02020603050405020304" pitchFamily="18" charset="0"/>
              </a:rPr>
              <a:t>One-hot encoding categorical variables</a:t>
            </a:r>
          </a:p>
          <a:p>
            <a:r>
              <a:rPr lang="en-US" b="1" dirty="0">
                <a:latin typeface="Times New Roman" panose="02020603050405020304" pitchFamily="18" charset="0"/>
                <a:cs typeface="Times New Roman" panose="02020603050405020304" pitchFamily="18" charset="0"/>
              </a:rPr>
              <a:t>Selecting relevant model features</a:t>
            </a:r>
          </a:p>
          <a:p>
            <a:r>
              <a:rPr lang="en-US" b="1" dirty="0">
                <a:latin typeface="Times New Roman" panose="02020603050405020304" pitchFamily="18" charset="0"/>
                <a:cs typeface="Times New Roman" panose="02020603050405020304" pitchFamily="18" charset="0"/>
              </a:rPr>
              <a:t>Standardizing numerical variables using </a:t>
            </a:r>
            <a:r>
              <a:rPr lang="en-US" b="1" dirty="0" err="1">
                <a:latin typeface="Times New Roman" panose="02020603050405020304" pitchFamily="18" charset="0"/>
                <a:cs typeface="Times New Roman" panose="02020603050405020304" pitchFamily="18" charset="0"/>
              </a:rPr>
              <a:t>StandardScaler</a:t>
            </a:r>
            <a:endParaRPr lang="en-US" b="1" dirty="0">
              <a:latin typeface="Times New Roman" panose="02020603050405020304" pitchFamily="18" charset="0"/>
              <a:cs typeface="Times New Roman" panose="02020603050405020304" pitchFamily="18" charset="0"/>
            </a:endParaRPr>
          </a:p>
          <a:p>
            <a:pPr marL="0" indent="0">
              <a:buNone/>
            </a:pPr>
            <a:endParaRPr lang="en-US" b="1"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Target Variable:`</a:t>
            </a:r>
            <a:r>
              <a:rPr lang="en-US" b="1" dirty="0" err="1">
                <a:latin typeface="Times New Roman" panose="02020603050405020304" pitchFamily="18" charset="0"/>
                <a:cs typeface="Times New Roman" panose="02020603050405020304" pitchFamily="18" charset="0"/>
              </a:rPr>
              <a:t>crash_severity_class</a:t>
            </a:r>
            <a:r>
              <a:rPr lang="en-US" b="1" dirty="0">
                <a:latin typeface="Times New Roman" panose="02020603050405020304" pitchFamily="18" charset="0"/>
                <a:cs typeface="Times New Roman" panose="02020603050405020304" pitchFamily="18" charset="0"/>
              </a:rPr>
              <a:t>` - 1 = crash resulted in injuries - 0 = crash resulted in no injuries</a:t>
            </a:r>
          </a:p>
          <a:p>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Feature Engineering</a:t>
            </a:r>
          </a:p>
        </p:txBody>
      </p:sp>
      <p:sp>
        <p:nvSpPr>
          <p:cNvPr id="3" name="Content Placeholder 2"/>
          <p:cNvSpPr>
            <a:spLocks noGrp="1"/>
          </p:cNvSpPr>
          <p:nvPr>
            <p:ph idx="1"/>
          </p:nvPr>
        </p:nvSpPr>
        <p:spPr>
          <a:xfrm>
            <a:off x="609599" y="2160590"/>
            <a:ext cx="6347714" cy="5014567"/>
          </a:xfrm>
        </p:spPr>
        <p:txBody>
          <a:bodyPr>
            <a:noAutofit/>
          </a:bodyPr>
          <a:lstStyle/>
          <a:p>
            <a:r>
              <a:rPr lang="en-US" sz="1400" b="1" dirty="0">
                <a:latin typeface="Times New Roman" panose="02020603050405020304" pitchFamily="18" charset="0"/>
                <a:cs typeface="Times New Roman" panose="02020603050405020304" pitchFamily="18" charset="0"/>
              </a:rPr>
              <a:t>The following features were selected for modeling:</a:t>
            </a:r>
          </a:p>
          <a:p>
            <a:r>
              <a:rPr lang="en-US" sz="1400" b="1" dirty="0">
                <a:latin typeface="Times New Roman" panose="02020603050405020304" pitchFamily="18" charset="0"/>
                <a:cs typeface="Times New Roman" panose="02020603050405020304" pitchFamily="18" charset="0"/>
              </a:rPr>
              <a:t>windspeed</a:t>
            </a:r>
          </a:p>
          <a:p>
            <a:r>
              <a:rPr lang="en-US" sz="1400" b="1" dirty="0" err="1">
                <a:latin typeface="Times New Roman" panose="02020603050405020304" pitchFamily="18" charset="0"/>
                <a:cs typeface="Times New Roman" panose="02020603050405020304" pitchFamily="18" charset="0"/>
              </a:rPr>
              <a:t>winddir</a:t>
            </a:r>
            <a:endParaRPr lang="en-US" sz="1400" b="1" dirty="0">
              <a:latin typeface="Times New Roman" panose="02020603050405020304" pitchFamily="18" charset="0"/>
              <a:cs typeface="Times New Roman" panose="02020603050405020304" pitchFamily="18" charset="0"/>
            </a:endParaRPr>
          </a:p>
          <a:p>
            <a:r>
              <a:rPr lang="en-US" sz="1400" b="1" dirty="0">
                <a:latin typeface="Times New Roman" panose="02020603050405020304" pitchFamily="18" charset="0"/>
                <a:cs typeface="Times New Roman" panose="02020603050405020304" pitchFamily="18" charset="0"/>
              </a:rPr>
              <a:t>pressure</a:t>
            </a:r>
          </a:p>
          <a:p>
            <a:r>
              <a:rPr lang="en-US" sz="1400" b="1" dirty="0">
                <a:latin typeface="Times New Roman" panose="02020603050405020304" pitchFamily="18" charset="0"/>
                <a:cs typeface="Times New Roman" panose="02020603050405020304" pitchFamily="18" charset="0"/>
              </a:rPr>
              <a:t> visibility</a:t>
            </a:r>
          </a:p>
          <a:p>
            <a:r>
              <a:rPr lang="en-US" sz="1400" b="1" dirty="0" err="1">
                <a:latin typeface="Times New Roman" panose="02020603050405020304" pitchFamily="18" charset="0"/>
                <a:cs typeface="Times New Roman" panose="02020603050405020304" pitchFamily="18" charset="0"/>
              </a:rPr>
              <a:t>cloudcover</a:t>
            </a:r>
            <a:endParaRPr lang="en-US" sz="1400" b="1" dirty="0">
              <a:latin typeface="Times New Roman" panose="02020603050405020304" pitchFamily="18" charset="0"/>
              <a:cs typeface="Times New Roman" panose="02020603050405020304" pitchFamily="18" charset="0"/>
            </a:endParaRPr>
          </a:p>
          <a:p>
            <a:r>
              <a:rPr lang="en-US" sz="1400" b="1" dirty="0" err="1">
                <a:latin typeface="Times New Roman" panose="02020603050405020304" pitchFamily="18" charset="0"/>
                <a:cs typeface="Times New Roman" panose="02020603050405020304" pitchFamily="18" charset="0"/>
              </a:rPr>
              <a:t>moonphase</a:t>
            </a:r>
            <a:endParaRPr lang="en-US" sz="1400" b="1" dirty="0">
              <a:latin typeface="Times New Roman" panose="02020603050405020304" pitchFamily="18" charset="0"/>
              <a:cs typeface="Times New Roman" panose="02020603050405020304" pitchFamily="18" charset="0"/>
            </a:endParaRPr>
          </a:p>
          <a:p>
            <a:r>
              <a:rPr lang="en-US" sz="1400" b="1" dirty="0" err="1">
                <a:latin typeface="Times New Roman" panose="02020603050405020304" pitchFamily="18" charset="0"/>
                <a:cs typeface="Times New Roman" panose="02020603050405020304" pitchFamily="18" charset="0"/>
              </a:rPr>
              <a:t>lattitude</a:t>
            </a:r>
            <a:endParaRPr lang="en-US" sz="1400" b="1" dirty="0">
              <a:latin typeface="Times New Roman" panose="02020603050405020304" pitchFamily="18" charset="0"/>
              <a:cs typeface="Times New Roman" panose="02020603050405020304" pitchFamily="18" charset="0"/>
            </a:endParaRPr>
          </a:p>
          <a:p>
            <a:r>
              <a:rPr lang="en-US" sz="1400" b="1" dirty="0" err="1">
                <a:latin typeface="Times New Roman" panose="02020603050405020304" pitchFamily="18" charset="0"/>
                <a:cs typeface="Times New Roman" panose="02020603050405020304" pitchFamily="18" charset="0"/>
              </a:rPr>
              <a:t>days_temp</a:t>
            </a:r>
            <a:endParaRPr lang="en-US" sz="1400" b="1" dirty="0">
              <a:latin typeface="Times New Roman" panose="02020603050405020304" pitchFamily="18" charset="0"/>
              <a:cs typeface="Times New Roman" panose="02020603050405020304" pitchFamily="18" charset="0"/>
            </a:endParaRPr>
          </a:p>
          <a:p>
            <a:r>
              <a:rPr lang="en-US" sz="1400" b="1" dirty="0" err="1">
                <a:latin typeface="Times New Roman" panose="02020603050405020304" pitchFamily="18" charset="0"/>
                <a:cs typeface="Times New Roman" panose="02020603050405020304" pitchFamily="18" charset="0"/>
              </a:rPr>
              <a:t>num_vehicles_in_crash</a:t>
            </a:r>
            <a:endParaRPr lang="en-US" sz="1400" b="1" dirty="0">
              <a:latin typeface="Times New Roman" panose="02020603050405020304" pitchFamily="18" charset="0"/>
              <a:cs typeface="Times New Roman" panose="02020603050405020304" pitchFamily="18" charset="0"/>
            </a:endParaRPr>
          </a:p>
          <a:p>
            <a:pPr marL="0" indent="0">
              <a:buNone/>
            </a:pPr>
            <a:endParaRPr lang="en-US" sz="1400" b="1" dirty="0">
              <a:latin typeface="Times New Roman" panose="02020603050405020304" pitchFamily="18" charset="0"/>
              <a:cs typeface="Times New Roman" panose="02020603050405020304" pitchFamily="18" charset="0"/>
            </a:endParaRPr>
          </a:p>
          <a:p>
            <a:r>
              <a:rPr lang="en-US" sz="1400" b="1" dirty="0">
                <a:latin typeface="Times New Roman" panose="02020603050405020304" pitchFamily="18" charset="0"/>
                <a:cs typeface="Times New Roman" panose="02020603050405020304" pitchFamily="18" charset="0"/>
              </a:rPr>
              <a:t>These features represent environmental conditions and crash characteristics that may influence injury outcomes</a:t>
            </a:r>
            <a:r>
              <a:rPr lang="en-US" b="1"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Modeling Approach</a:t>
            </a:r>
          </a:p>
        </p:txBody>
      </p:sp>
      <p:sp>
        <p:nvSpPr>
          <p:cNvPr id="3" name="Content Placeholder 2"/>
          <p:cNvSpPr>
            <a:spLocks noGrp="1"/>
          </p:cNvSpPr>
          <p:nvPr>
            <p:ph idx="1"/>
          </p:nvPr>
        </p:nvSpPr>
        <p:spPr/>
        <p:txBody>
          <a:bodyPr/>
          <a:lstStyle/>
          <a:p>
            <a:r>
              <a:rPr b="1" dirty="0">
                <a:latin typeface="Times New Roman" panose="02020603050405020304" pitchFamily="18" charset="0"/>
                <a:cs typeface="Times New Roman" panose="02020603050405020304" pitchFamily="18" charset="0"/>
              </a:rPr>
              <a:t>Train-test split (80/20)</a:t>
            </a:r>
          </a:p>
          <a:p>
            <a:r>
              <a:rPr b="1" dirty="0">
                <a:latin typeface="Times New Roman" panose="02020603050405020304" pitchFamily="18" charset="0"/>
                <a:cs typeface="Times New Roman" panose="02020603050405020304" pitchFamily="18" charset="0"/>
              </a:rPr>
              <a:t>Standardization applied</a:t>
            </a:r>
            <a:endParaRPr lang="en-US" b="1"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Cross-validation</a:t>
            </a:r>
          </a:p>
          <a:p>
            <a:pPr marL="0" indent="0">
              <a:buNone/>
            </a:pPr>
            <a:endParaRPr b="1" dirty="0">
              <a:latin typeface="Times New Roman" panose="02020603050405020304" pitchFamily="18" charset="0"/>
              <a:cs typeface="Times New Roman" panose="02020603050405020304" pitchFamily="18" charset="0"/>
            </a:endParaRPr>
          </a:p>
          <a:p>
            <a:r>
              <a:rPr b="1" dirty="0">
                <a:latin typeface="Times New Roman" panose="02020603050405020304" pitchFamily="18" charset="0"/>
                <a:cs typeface="Times New Roman" panose="02020603050405020304" pitchFamily="18" charset="0"/>
              </a:rPr>
              <a:t>Models:</a:t>
            </a:r>
          </a:p>
          <a:p>
            <a:r>
              <a:rPr b="1" dirty="0">
                <a:latin typeface="Times New Roman" panose="02020603050405020304" pitchFamily="18" charset="0"/>
                <a:cs typeface="Times New Roman" panose="02020603050405020304" pitchFamily="18" charset="0"/>
              </a:rPr>
              <a:t>- Logistic Regression</a:t>
            </a:r>
          </a:p>
          <a:p>
            <a:r>
              <a:rPr b="1" dirty="0">
                <a:latin typeface="Times New Roman" panose="02020603050405020304" pitchFamily="18" charset="0"/>
                <a:cs typeface="Times New Roman" panose="02020603050405020304" pitchFamily="18" charset="0"/>
              </a:rPr>
              <a:t>- Decision Tree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Evaluation Metrics</a:t>
            </a:r>
          </a:p>
        </p:txBody>
      </p:sp>
      <p:sp>
        <p:nvSpPr>
          <p:cNvPr id="3" name="Content Placeholder 2"/>
          <p:cNvSpPr>
            <a:spLocks noGrp="1"/>
          </p:cNvSpPr>
          <p:nvPr>
            <p:ph idx="1"/>
          </p:nvPr>
        </p:nvSpPr>
        <p:spPr/>
        <p:txBody>
          <a:bodyPr/>
          <a:lstStyle/>
          <a:p>
            <a:r>
              <a:rPr b="1" dirty="0">
                <a:latin typeface="Times New Roman" panose="02020603050405020304" pitchFamily="18" charset="0"/>
                <a:cs typeface="Times New Roman" panose="02020603050405020304" pitchFamily="18" charset="0"/>
              </a:rPr>
              <a:t>Accuracy</a:t>
            </a:r>
          </a:p>
          <a:p>
            <a:r>
              <a:rPr b="1" dirty="0">
                <a:latin typeface="Times New Roman" panose="02020603050405020304" pitchFamily="18" charset="0"/>
                <a:cs typeface="Times New Roman" panose="02020603050405020304" pitchFamily="18" charset="0"/>
              </a:rPr>
              <a:t>Confusion Matrix</a:t>
            </a:r>
          </a:p>
          <a:p>
            <a:r>
              <a:rPr b="1" dirty="0">
                <a:latin typeface="Times New Roman" panose="02020603050405020304" pitchFamily="18" charset="0"/>
                <a:cs typeface="Times New Roman" panose="02020603050405020304" pitchFamily="18" charset="0"/>
              </a:rPr>
              <a:t>ROC-AUC</a:t>
            </a:r>
          </a:p>
          <a:p>
            <a:r>
              <a:rPr b="1" dirty="0">
                <a:latin typeface="Times New Roman" panose="02020603050405020304" pitchFamily="18" charset="0"/>
                <a:cs typeface="Times New Roman" panose="02020603050405020304" pitchFamily="18" charset="0"/>
              </a:rPr>
              <a:t>Classification Report</a:t>
            </a:r>
            <a:endParaRPr lang="en-US" b="1" dirty="0">
              <a:latin typeface="Times New Roman" panose="02020603050405020304" pitchFamily="18" charset="0"/>
              <a:cs typeface="Times New Roman" panose="02020603050405020304" pitchFamily="18" charset="0"/>
            </a:endParaRPr>
          </a:p>
          <a:p>
            <a:endParaRPr lang="en-US" b="1"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These metrics help measure how well the models predict injury outcomes.</a:t>
            </a:r>
          </a:p>
          <a:p>
            <a:pPr marL="0" indent="0">
              <a:buNone/>
            </a:pP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Key Insights</a:t>
            </a:r>
          </a:p>
        </p:txBody>
      </p:sp>
      <p:sp>
        <p:nvSpPr>
          <p:cNvPr id="3" name="Content Placeholder 2"/>
          <p:cNvSpPr>
            <a:spLocks noGrp="1"/>
          </p:cNvSpPr>
          <p:nvPr>
            <p:ph idx="1"/>
          </p:nvPr>
        </p:nvSpPr>
        <p:spPr/>
        <p:txBody>
          <a:bodyPr>
            <a:normAutofit/>
          </a:bodyPr>
          <a:lstStyle/>
          <a:p>
            <a:r>
              <a:rPr lang="en-US" b="1" dirty="0">
                <a:latin typeface="Times New Roman" panose="02020603050405020304" pitchFamily="18" charset="0"/>
                <a:cs typeface="Times New Roman" panose="02020603050405020304" pitchFamily="18" charset="0"/>
              </a:rPr>
              <a:t>The analysis helps identify:</a:t>
            </a:r>
          </a:p>
          <a:p>
            <a:pPr>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Environmental conditions associated with higher injury risk</a:t>
            </a:r>
          </a:p>
          <a:p>
            <a:pPr>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Crash patterns linked to severe accidents</a:t>
            </a:r>
          </a:p>
          <a:p>
            <a:pPr>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Predictive indicators of injury-causing crashes</a:t>
            </a:r>
          </a:p>
          <a:p>
            <a:r>
              <a:rPr lang="en-US" b="1" dirty="0">
                <a:latin typeface="Times New Roman" panose="02020603050405020304" pitchFamily="18" charset="0"/>
                <a:cs typeface="Times New Roman" panose="02020603050405020304" pitchFamily="18" charset="0"/>
              </a:rPr>
              <a:t>These insights can help authorities implement preventative measures to improve road safety</a:t>
            </a:r>
            <a:r>
              <a:rPr lang="en-US" b="1" dirty="0"/>
              <a:t>.</a:t>
            </a:r>
            <a:br>
              <a:rPr lang="en-US" dirty="0"/>
            </a:b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882CB-F403-1A16-781A-BD5AD3F70E67}"/>
              </a:ext>
            </a:extLst>
          </p:cNvPr>
          <p:cNvSpPr>
            <a:spLocks noGrp="1"/>
          </p:cNvSpPr>
          <p:nvPr>
            <p:ph type="title"/>
          </p:nvPr>
        </p:nvSpPr>
        <p:spPr/>
        <p:txBody>
          <a:bodyPr/>
          <a:lstStyle/>
          <a:p>
            <a:r>
              <a:rPr lang="en-US" b="1" dirty="0">
                <a:latin typeface="Times New Roman" panose="02020603050405020304" pitchFamily="18" charset="0"/>
                <a:cs typeface="Times New Roman" panose="02020603050405020304" pitchFamily="18" charset="0"/>
              </a:rPr>
              <a:t>Top predictors plot</a:t>
            </a:r>
            <a:endParaRPr lang="en-KE" b="1"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9CD4983-A862-7AA8-3509-4B5C30770620}"/>
              </a:ext>
            </a:extLst>
          </p:cNvPr>
          <p:cNvPicPr>
            <a:picLocks noGrp="1" noChangeAspect="1"/>
          </p:cNvPicPr>
          <p:nvPr>
            <p:ph idx="1"/>
          </p:nvPr>
        </p:nvPicPr>
        <p:blipFill>
          <a:blip r:embed="rId2"/>
          <a:stretch>
            <a:fillRect/>
          </a:stretch>
        </p:blipFill>
        <p:spPr>
          <a:xfrm>
            <a:off x="609600" y="2304897"/>
            <a:ext cx="6348413" cy="3592819"/>
          </a:xfrm>
          <a:prstGeom prst="rect">
            <a:avLst/>
          </a:prstGeom>
        </p:spPr>
      </p:pic>
    </p:spTree>
    <p:extLst>
      <p:ext uri="{BB962C8B-B14F-4D97-AF65-F5344CB8AC3E}">
        <p14:creationId xmlns:p14="http://schemas.microsoft.com/office/powerpoint/2010/main" val="29845374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Recommendations</a:t>
            </a:r>
          </a:p>
        </p:txBody>
      </p:sp>
      <p:sp>
        <p:nvSpPr>
          <p:cNvPr id="3" name="Content Placeholder 2"/>
          <p:cNvSpPr>
            <a:spLocks noGrp="1"/>
          </p:cNvSpPr>
          <p:nvPr>
            <p:ph idx="1"/>
          </p:nvPr>
        </p:nvSpPr>
        <p:spPr>
          <a:xfrm>
            <a:off x="716691" y="1930400"/>
            <a:ext cx="6347714" cy="3880773"/>
          </a:xfrm>
        </p:spPr>
        <p:txBody>
          <a:bodyPr>
            <a:normAutofit fontScale="85000" lnSpcReduction="10000"/>
          </a:bodyPr>
          <a:lstStyle/>
          <a:p>
            <a:r>
              <a:rPr lang="en-US" sz="1900" b="1" dirty="0">
                <a:latin typeface="Times New Roman" panose="02020603050405020304" pitchFamily="18" charset="0"/>
                <a:cs typeface="Times New Roman" panose="02020603050405020304" pitchFamily="18" charset="0"/>
              </a:rPr>
              <a:t>1. Since </a:t>
            </a:r>
            <a:r>
              <a:rPr lang="en-US" sz="1900" b="1" dirty="0" err="1">
                <a:latin typeface="Times New Roman" panose="02020603050405020304" pitchFamily="18" charset="0"/>
                <a:cs typeface="Times New Roman" panose="02020603050405020304" pitchFamily="18" charset="0"/>
              </a:rPr>
              <a:t>num_vehicles_in_crash</a:t>
            </a:r>
            <a:r>
              <a:rPr lang="en-US" sz="1900" b="1" dirty="0">
                <a:latin typeface="Times New Roman" panose="02020603050405020304" pitchFamily="18" charset="0"/>
                <a:cs typeface="Times New Roman" panose="02020603050405020304" pitchFamily="18" charset="0"/>
              </a:rPr>
              <a:t> is your strongest predictor, the city should prioritize on conflict point reduction. By converting high crash intersections into  round abouts or adding more signals. This will slow the speed of the cars and drivers will have ample time for reaction as well as reduce the number of injuries</a:t>
            </a:r>
          </a:p>
          <a:p>
            <a:r>
              <a:rPr lang="en-US" sz="1900" b="1" dirty="0">
                <a:latin typeface="Times New Roman" panose="02020603050405020304" pitchFamily="18" charset="0"/>
                <a:cs typeface="Times New Roman" panose="02020603050405020304" pitchFamily="18" charset="0"/>
              </a:rPr>
              <a:t>2. For location safety, because </a:t>
            </a:r>
            <a:r>
              <a:rPr lang="en-US" sz="1900" b="1" dirty="0" err="1">
                <a:latin typeface="Times New Roman" panose="02020603050405020304" pitchFamily="18" charset="0"/>
                <a:cs typeface="Times New Roman" panose="02020603050405020304" pitchFamily="18" charset="0"/>
              </a:rPr>
              <a:t>lattitude</a:t>
            </a:r>
            <a:r>
              <a:rPr lang="en-US" sz="1900" b="1" dirty="0">
                <a:latin typeface="Times New Roman" panose="02020603050405020304" pitchFamily="18" charset="0"/>
                <a:cs typeface="Times New Roman" panose="02020603050405020304" pitchFamily="18" charset="0"/>
              </a:rPr>
              <a:t> is a significant, the city should investigate the specific streets within the high risk </a:t>
            </a:r>
            <a:r>
              <a:rPr lang="en-US" sz="1900" b="1" dirty="0" err="1">
                <a:latin typeface="Times New Roman" panose="02020603050405020304" pitchFamily="18" charset="0"/>
                <a:cs typeface="Times New Roman" panose="02020603050405020304" pitchFamily="18" charset="0"/>
              </a:rPr>
              <a:t>lattitude</a:t>
            </a:r>
            <a:r>
              <a:rPr lang="en-US" sz="1900" b="1" dirty="0">
                <a:latin typeface="Times New Roman" panose="02020603050405020304" pitchFamily="18" charset="0"/>
                <a:cs typeface="Times New Roman" panose="02020603050405020304" pitchFamily="18" charset="0"/>
              </a:rPr>
              <a:t> zones. Then enforce speed cameras or increased patrols officers.</a:t>
            </a:r>
          </a:p>
          <a:p>
            <a:r>
              <a:rPr lang="en-US" sz="1900" b="1" dirty="0">
                <a:latin typeface="Times New Roman" panose="02020603050405020304" pitchFamily="18" charset="0"/>
                <a:cs typeface="Times New Roman" panose="02020603050405020304" pitchFamily="18" charset="0"/>
              </a:rPr>
              <a:t>3. The city should issue amber alerts when there are changes in weather conditions, because different drivers react differently as well as focus on </a:t>
            </a:r>
            <a:r>
              <a:rPr lang="en-US" sz="1900" b="1" dirty="0" err="1">
                <a:latin typeface="Times New Roman" panose="02020603050405020304" pitchFamily="18" charset="0"/>
                <a:cs typeface="Times New Roman" panose="02020603050405020304" pitchFamily="18" charset="0"/>
              </a:rPr>
              <a:t>infustructure</a:t>
            </a:r>
            <a:r>
              <a:rPr lang="en-US" sz="1900" b="1" dirty="0">
                <a:latin typeface="Times New Roman" panose="02020603050405020304" pitchFamily="18" charset="0"/>
                <a:cs typeface="Times New Roman" panose="02020603050405020304" pitchFamily="18" charset="0"/>
              </a:rPr>
              <a:t> </a:t>
            </a:r>
            <a:r>
              <a:rPr lang="en-US" sz="1900" b="1" dirty="0" err="1">
                <a:latin typeface="Times New Roman" panose="02020603050405020304" pitchFamily="18" charset="0"/>
                <a:cs typeface="Times New Roman" panose="02020603050405020304" pitchFamily="18" charset="0"/>
              </a:rPr>
              <a:t>diring</a:t>
            </a:r>
            <a:r>
              <a:rPr lang="en-US" sz="1900" b="1" dirty="0">
                <a:latin typeface="Times New Roman" panose="02020603050405020304" pitchFamily="18" charset="0"/>
                <a:cs typeface="Times New Roman" panose="02020603050405020304" pitchFamily="18" charset="0"/>
              </a:rPr>
              <a:t> these weather changes</a:t>
            </a:r>
          </a:p>
          <a:p>
            <a:r>
              <a:rPr lang="en-US" sz="1900" b="1" dirty="0">
                <a:latin typeface="Times New Roman" panose="02020603050405020304" pitchFamily="18" charset="0"/>
                <a:cs typeface="Times New Roman" panose="02020603050405020304" pitchFamily="18" charset="0"/>
              </a:rPr>
              <a:t>4. The city should integrate an emergency dispatch system. This is because we a 69% recall, which flags when a crash is likely to have an injury</a:t>
            </a:r>
            <a:r>
              <a:rPr lang="en-US" b="1" dirty="0"/>
              <a:t>. </a:t>
            </a:r>
            <a:endParaRPr b="1"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latin typeface="Times New Roman" panose="02020603050405020304" pitchFamily="18" charset="0"/>
                <a:cs typeface="Times New Roman" panose="02020603050405020304" pitchFamily="18" charset="0"/>
              </a:rPr>
              <a:t>Conclusion</a:t>
            </a:r>
          </a:p>
        </p:txBody>
      </p:sp>
      <p:sp>
        <p:nvSpPr>
          <p:cNvPr id="3" name="Content Placeholder 2"/>
          <p:cNvSpPr>
            <a:spLocks noGrp="1"/>
          </p:cNvSpPr>
          <p:nvPr>
            <p:ph idx="1"/>
          </p:nvPr>
        </p:nvSpPr>
        <p:spPr/>
        <p:txBody>
          <a:bodyPr/>
          <a:lstStyle/>
          <a:p>
            <a:r>
              <a:rPr lang="en-US" b="1" dirty="0"/>
              <a:t>While a standard model prioritizes on accuracy, we optimized for recall. The model reveals that the more the cars at in intersections the higher the impact of accidents. The city </a:t>
            </a:r>
            <a:r>
              <a:rPr lang="en-US" b="1" dirty="0">
                <a:latin typeface="Times New Roman" panose="02020603050405020304" pitchFamily="18" charset="0"/>
                <a:cs typeface="Times New Roman" panose="02020603050405020304" pitchFamily="18" charset="0"/>
              </a:rPr>
              <a:t>should</a:t>
            </a:r>
            <a:r>
              <a:rPr lang="en-US" b="1" dirty="0"/>
              <a:t> focus on multi vehicle intersections within the high risk </a:t>
            </a:r>
            <a:r>
              <a:rPr lang="en-US" b="1" dirty="0" err="1"/>
              <a:t>lattitude</a:t>
            </a:r>
            <a:r>
              <a:rPr lang="en-US" b="1" dirty="0"/>
              <a:t> and the allocate resources where they will have immediate impact on saving lives.</a:t>
            </a:r>
            <a:endParaRPr b="1"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1DBE2-7B1A-2FF2-D4BA-E1BEF582D1AC}"/>
              </a:ext>
            </a:extLst>
          </p:cNvPr>
          <p:cNvSpPr>
            <a:spLocks noGrp="1"/>
          </p:cNvSpPr>
          <p:nvPr>
            <p:ph type="title"/>
          </p:nvPr>
        </p:nvSpPr>
        <p:spPr/>
        <p:txBody>
          <a:bodyPr/>
          <a:lstStyle/>
          <a:p>
            <a:r>
              <a:rPr lang="en-US" dirty="0"/>
              <a:t>Project work flow</a:t>
            </a:r>
            <a:endParaRPr lang="en-KE" dirty="0"/>
          </a:p>
        </p:txBody>
      </p:sp>
      <p:sp>
        <p:nvSpPr>
          <p:cNvPr id="3" name="Content Placeholder 2">
            <a:extLst>
              <a:ext uri="{FF2B5EF4-FFF2-40B4-BE49-F238E27FC236}">
                <a16:creationId xmlns:a16="http://schemas.microsoft.com/office/drawing/2014/main" id="{E48E83AA-D4D2-2C1B-2980-1D60B5E2D6D2}"/>
              </a:ext>
            </a:extLst>
          </p:cNvPr>
          <p:cNvSpPr>
            <a:spLocks noGrp="1"/>
          </p:cNvSpPr>
          <p:nvPr>
            <p:ph idx="1"/>
          </p:nvPr>
        </p:nvSpPr>
        <p:spPr/>
        <p:txBody>
          <a:bodyPr>
            <a:normAutofit/>
          </a:bodyPr>
          <a:lstStyle/>
          <a:p>
            <a:r>
              <a:rPr lang="en-US" b="1" dirty="0"/>
              <a:t>1.  Business Understanding</a:t>
            </a:r>
          </a:p>
          <a:p>
            <a:r>
              <a:rPr lang="en-US" b="1" dirty="0"/>
              <a:t>2.  Data Understanding</a:t>
            </a:r>
          </a:p>
          <a:p>
            <a:r>
              <a:rPr lang="en-US" b="1" dirty="0"/>
              <a:t>3.  Data Preparation</a:t>
            </a:r>
          </a:p>
          <a:p>
            <a:r>
              <a:rPr lang="en-US" b="1" dirty="0"/>
              <a:t>4.  Modeling</a:t>
            </a:r>
          </a:p>
          <a:p>
            <a:r>
              <a:rPr lang="en-US" b="1" dirty="0"/>
              <a:t>5.  Evaluation</a:t>
            </a:r>
          </a:p>
          <a:p>
            <a:r>
              <a:rPr lang="en-US" b="1" dirty="0"/>
              <a:t>6.  Conclusion and Recommendations</a:t>
            </a:r>
          </a:p>
          <a:p>
            <a:endParaRPr lang="en-KE" dirty="0"/>
          </a:p>
        </p:txBody>
      </p:sp>
    </p:spTree>
    <p:extLst>
      <p:ext uri="{BB962C8B-B14F-4D97-AF65-F5344CB8AC3E}">
        <p14:creationId xmlns:p14="http://schemas.microsoft.com/office/powerpoint/2010/main" val="1624663885"/>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218</TotalTime>
  <Words>658</Words>
  <Application>Microsoft Office PowerPoint</Application>
  <PresentationFormat>On-screen Show (4:3)</PresentationFormat>
  <Paragraphs>81</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Times New Roman</vt:lpstr>
      <vt:lpstr>Trebuchet MS</vt:lpstr>
      <vt:lpstr>Wingdings 3</vt:lpstr>
      <vt:lpstr>Facet</vt:lpstr>
      <vt:lpstr>Chicago Car Crash Prediction</vt:lpstr>
      <vt:lpstr>PowerPoint Presentation</vt:lpstr>
      <vt:lpstr>Business Problem</vt:lpstr>
      <vt:lpstr>Stakeholders</vt:lpstr>
      <vt:lpstr>Key Questions</vt:lpstr>
      <vt:lpstr>Data Understanding</vt:lpstr>
      <vt:lpstr>Data Preparation</vt:lpstr>
      <vt:lpstr>Feature Engineering</vt:lpstr>
      <vt:lpstr>Modeling Approach</vt:lpstr>
      <vt:lpstr>Evaluation Metrics</vt:lpstr>
      <vt:lpstr>Key Insights</vt:lpstr>
      <vt:lpstr>Top predictors plot</vt:lpstr>
      <vt:lpstr>Recommendations</vt:lpstr>
      <vt:lpstr>Conclusion</vt:lpstr>
      <vt:lpstr>Project work flow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Dell</dc:creator>
  <cp:keywords/>
  <dc:description>generated using python-pptx</dc:description>
  <cp:lastModifiedBy>Dell</cp:lastModifiedBy>
  <cp:revision>6</cp:revision>
  <dcterms:created xsi:type="dcterms:W3CDTF">2013-01-27T09:14:16Z</dcterms:created>
  <dcterms:modified xsi:type="dcterms:W3CDTF">2026-03-17T07:11:54Z</dcterms:modified>
  <cp:category/>
</cp:coreProperties>
</file>