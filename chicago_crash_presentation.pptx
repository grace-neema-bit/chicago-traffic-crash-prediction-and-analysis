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1023" y="-69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43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3476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667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7322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03205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6643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6413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533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9544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12036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562208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31459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025650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83093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07126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1905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3/17/2026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7332240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Chicago Car Crash Prediction</a:t>
            </a:r>
          </a:p>
        </p:txBody>
      </p:sp>
      <p:sp>
        <p:nvSpPr>
          <p:cNvPr id="3" name="Content Placeholder 2"/>
          <p:cNvSpPr>
            <a:spLocks noGrp="1"/>
          </p:cNvSpPr>
          <p:nvPr>
            <p:ph idx="1"/>
          </p:nvPr>
        </p:nvSpPr>
        <p:spPr/>
        <p:txBody>
          <a:bodyPr/>
          <a:lstStyle/>
          <a:p>
            <a:r>
              <a:t>Predicting injury outcomes using machine learning</a:t>
            </a:r>
          </a:p>
          <a:p>
            <a:r>
              <a:t>Dataset: Chicago crashes (2019–2022)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Problem</a:t>
            </a:r>
          </a:p>
        </p:txBody>
      </p:sp>
      <p:sp>
        <p:nvSpPr>
          <p:cNvPr id="3" name="Content Placeholder 2"/>
          <p:cNvSpPr>
            <a:spLocks noGrp="1"/>
          </p:cNvSpPr>
          <p:nvPr>
            <p:ph idx="1"/>
          </p:nvPr>
        </p:nvSpPr>
        <p:spPr/>
        <p:txBody>
          <a:bodyPr/>
          <a:lstStyle/>
          <a:p>
            <a:r>
              <a:rPr lang="en-US" dirty="0"/>
              <a:t>Traffic accidents are a </a:t>
            </a:r>
            <a:r>
              <a:rPr lang="en-US" dirty="0" err="1"/>
              <a:t>mojor</a:t>
            </a:r>
            <a:r>
              <a:rPr lang="en-US" dirty="0"/>
              <a:t> concern in Chicago. Understanding the conditions that lead to severe crashes will help the Vehicle safety board.</a:t>
            </a:r>
          </a:p>
          <a:p>
            <a:r>
              <a:rPr lang="en-US" dirty="0"/>
              <a:t>This project aims to build a classification model that predicts whether a car crash will result in injuries based on environmental factors or other factors. The insights from this model will help identify high risk conditions and implement preventive measures </a:t>
            </a:r>
            <a:r>
              <a:rPr lang="en-US"/>
              <a:t>to improve </a:t>
            </a:r>
            <a:r>
              <a:rPr lang="en-US" dirty="0"/>
              <a:t>road safety.</a:t>
            </a:r>
            <a:br>
              <a:rPr lang="en-US" dirty="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Stakeholders</a:t>
            </a:r>
          </a:p>
        </p:txBody>
      </p:sp>
      <p:sp>
        <p:nvSpPr>
          <p:cNvPr id="3" name="Content Placeholder 2"/>
          <p:cNvSpPr>
            <a:spLocks noGrp="1"/>
          </p:cNvSpPr>
          <p:nvPr>
            <p:ph idx="1"/>
          </p:nvPr>
        </p:nvSpPr>
        <p:spPr/>
        <p:txBody>
          <a:bodyPr/>
          <a:lstStyle/>
          <a:p>
            <a:r>
              <a:rPr dirty="0"/>
              <a:t>Vehicle Safety Board</a:t>
            </a:r>
            <a:endParaRPr lang="en-US" dirty="0"/>
          </a:p>
          <a:p>
            <a:pPr>
              <a:buFont typeface="Arial" panose="020B0604020202020204" pitchFamily="34" charset="0"/>
              <a:buChar char="•"/>
            </a:pPr>
            <a:r>
              <a:rPr lang="en-US" dirty="0"/>
              <a:t>Responsible for road safety</a:t>
            </a:r>
          </a:p>
          <a:p>
            <a:pPr>
              <a:buFont typeface="Arial" panose="020B0604020202020204" pitchFamily="34" charset="0"/>
              <a:buChar char="•"/>
            </a:pPr>
            <a:r>
              <a:rPr lang="en-US" dirty="0"/>
              <a:t>Implement safety programs</a:t>
            </a:r>
          </a:p>
          <a:p>
            <a:pPr>
              <a:buFont typeface="Arial" panose="020B0604020202020204" pitchFamily="34" charset="0"/>
              <a:buChar char="•"/>
            </a:pPr>
            <a:r>
              <a:rPr lang="en-US" dirty="0"/>
              <a:t>They will use this model to identify high risk driving </a:t>
            </a:r>
          </a:p>
          <a:p>
            <a:endParaRPr dirty="0"/>
          </a:p>
          <a:p>
            <a:r>
              <a:rPr dirty="0"/>
              <a:t>City of Chicago</a:t>
            </a:r>
            <a:endParaRPr lang="en-US" dirty="0"/>
          </a:p>
          <a:p>
            <a:pPr>
              <a:buFont typeface="Arial" panose="020B0604020202020204" pitchFamily="34" charset="0"/>
              <a:buChar char="•"/>
            </a:pPr>
            <a:r>
              <a:rPr lang="en-US" dirty="0"/>
              <a:t>Responsible for transportation infrastructure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Questions</a:t>
            </a:r>
          </a:p>
        </p:txBody>
      </p:sp>
      <p:sp>
        <p:nvSpPr>
          <p:cNvPr id="3" name="Content Placeholder 2"/>
          <p:cNvSpPr>
            <a:spLocks noGrp="1"/>
          </p:cNvSpPr>
          <p:nvPr>
            <p:ph idx="1"/>
          </p:nvPr>
        </p:nvSpPr>
        <p:spPr/>
        <p:txBody>
          <a:bodyPr/>
          <a:lstStyle/>
          <a:p>
            <a:r>
              <a:rPr lang="en-US" dirty="0"/>
              <a:t>What factors contribute to most crashes?</a:t>
            </a:r>
          </a:p>
          <a:p>
            <a:r>
              <a:rPr lang="en-US" dirty="0"/>
              <a:t>Under what conditions are crashes most likely to result in injuries?</a:t>
            </a:r>
          </a:p>
          <a:p>
            <a:r>
              <a:rPr lang="en-US" dirty="0"/>
              <a:t>Can we predict whether a crash will result in injuries based on environmental conditions?</a:t>
            </a:r>
          </a:p>
          <a:p>
            <a:r>
              <a:rPr lang="en-US" dirty="0"/>
              <a:t>Can we predict the primary contributory cause of accidents?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Understanding</a:t>
            </a:r>
          </a:p>
        </p:txBody>
      </p:sp>
      <p:sp>
        <p:nvSpPr>
          <p:cNvPr id="3" name="Content Placeholder 2"/>
          <p:cNvSpPr>
            <a:spLocks noGrp="1"/>
          </p:cNvSpPr>
          <p:nvPr>
            <p:ph idx="1"/>
          </p:nvPr>
        </p:nvSpPr>
        <p:spPr/>
        <p:txBody>
          <a:bodyPr/>
          <a:lstStyle/>
          <a:p>
            <a:r>
              <a:rPr lang="en-US" dirty="0"/>
              <a:t>The dataset we are using has been obtained from </a:t>
            </a:r>
            <a:r>
              <a:rPr lang="en-US" dirty="0" err="1"/>
              <a:t>kaggle</a:t>
            </a:r>
            <a:r>
              <a:rPr lang="en-US" dirty="0"/>
              <a:t>, it contains car crashes in </a:t>
            </a:r>
            <a:r>
              <a:rPr lang="en-US" dirty="0" err="1"/>
              <a:t>chicago</a:t>
            </a:r>
            <a:r>
              <a:rPr lang="en-US" dirty="0"/>
              <a:t> from 2019 to 2022. Its </a:t>
            </a:r>
            <a:r>
              <a:rPr lang="en-US" dirty="0" err="1"/>
              <a:t>particulary</a:t>
            </a:r>
            <a:r>
              <a:rPr lang="en-US" dirty="0"/>
              <a:t> useful because it includes car crash variables and environmental factors that influence crash outcomes. It allows us to analyze patterns in traffic accidents.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Preparation</a:t>
            </a:r>
          </a:p>
        </p:txBody>
      </p:sp>
      <p:sp>
        <p:nvSpPr>
          <p:cNvPr id="3" name="Content Placeholder 2"/>
          <p:cNvSpPr>
            <a:spLocks noGrp="1"/>
          </p:cNvSpPr>
          <p:nvPr>
            <p:ph idx="1"/>
          </p:nvPr>
        </p:nvSpPr>
        <p:spPr/>
        <p:txBody>
          <a:bodyPr>
            <a:normAutofit fontScale="92500" lnSpcReduction="20000"/>
          </a:bodyPr>
          <a:lstStyle/>
          <a:p>
            <a:r>
              <a:rPr lang="en-US" dirty="0"/>
              <a:t>Several preprocessing steps were performed before training the models:</a:t>
            </a:r>
          </a:p>
          <a:p>
            <a:r>
              <a:rPr lang="en-US" dirty="0"/>
              <a:t>Cleaning missing values</a:t>
            </a:r>
          </a:p>
          <a:p>
            <a:r>
              <a:rPr lang="en-US" dirty="0"/>
              <a:t>Mapping injury values to numeric format</a:t>
            </a:r>
          </a:p>
          <a:p>
            <a:r>
              <a:rPr lang="en-US" dirty="0"/>
              <a:t>Creating a binary target variable (`</a:t>
            </a:r>
            <a:r>
              <a:rPr lang="en-US" dirty="0" err="1"/>
              <a:t>crash_severity_class</a:t>
            </a:r>
            <a:r>
              <a:rPr lang="en-US" dirty="0"/>
              <a:t>`)</a:t>
            </a:r>
          </a:p>
          <a:p>
            <a:r>
              <a:rPr lang="en-US" dirty="0"/>
              <a:t> Feature engineering from crash dates</a:t>
            </a:r>
          </a:p>
          <a:p>
            <a:r>
              <a:rPr lang="en-US" dirty="0"/>
              <a:t>One-hot encoding categorical variables</a:t>
            </a:r>
          </a:p>
          <a:p>
            <a:r>
              <a:rPr lang="en-US" dirty="0"/>
              <a:t>Selecting relevant model features</a:t>
            </a:r>
          </a:p>
          <a:p>
            <a:r>
              <a:rPr lang="en-US" dirty="0"/>
              <a:t>Standardizing numerical variables using </a:t>
            </a:r>
            <a:r>
              <a:rPr lang="en-US" dirty="0" err="1"/>
              <a:t>StandardScaler</a:t>
            </a:r>
            <a:endParaRPr lang="en-US" dirty="0"/>
          </a:p>
          <a:p>
            <a:pPr marL="0" indent="0">
              <a:buNone/>
            </a:pPr>
            <a:endParaRPr lang="en-US" dirty="0"/>
          </a:p>
          <a:p>
            <a:r>
              <a:rPr lang="en-US" dirty="0"/>
              <a:t>Target Variable:`</a:t>
            </a:r>
            <a:r>
              <a:rPr lang="en-US" dirty="0" err="1"/>
              <a:t>crash_severity_class</a:t>
            </a:r>
            <a:r>
              <a:rPr lang="en-US" dirty="0"/>
              <a:t>` - 1 = crash resulted in injuries - 0 = crash resulted in no injuries</a:t>
            </a:r>
          </a:p>
          <a:p>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 Engineering</a:t>
            </a:r>
          </a:p>
        </p:txBody>
      </p:sp>
      <p:sp>
        <p:nvSpPr>
          <p:cNvPr id="3" name="Content Placeholder 2"/>
          <p:cNvSpPr>
            <a:spLocks noGrp="1"/>
          </p:cNvSpPr>
          <p:nvPr>
            <p:ph idx="1"/>
          </p:nvPr>
        </p:nvSpPr>
        <p:spPr/>
        <p:txBody>
          <a:bodyPr>
            <a:normAutofit fontScale="85000" lnSpcReduction="20000"/>
          </a:bodyPr>
          <a:lstStyle/>
          <a:p>
            <a:r>
              <a:rPr lang="en-US" dirty="0"/>
              <a:t>The following features were selected for modeling:</a:t>
            </a:r>
          </a:p>
          <a:p>
            <a:r>
              <a:rPr lang="en-US" dirty="0"/>
              <a:t>windspeed</a:t>
            </a:r>
          </a:p>
          <a:p>
            <a:r>
              <a:rPr lang="en-US" dirty="0" err="1"/>
              <a:t>winddir</a:t>
            </a:r>
            <a:endParaRPr lang="en-US" dirty="0"/>
          </a:p>
          <a:p>
            <a:r>
              <a:rPr lang="en-US" dirty="0"/>
              <a:t>pressure</a:t>
            </a:r>
          </a:p>
          <a:p>
            <a:r>
              <a:rPr lang="en-US" dirty="0"/>
              <a:t> visibility</a:t>
            </a:r>
          </a:p>
          <a:p>
            <a:r>
              <a:rPr lang="en-US" dirty="0" err="1"/>
              <a:t>cloudcover</a:t>
            </a:r>
            <a:endParaRPr lang="en-US" dirty="0"/>
          </a:p>
          <a:p>
            <a:r>
              <a:rPr lang="en-US" dirty="0" err="1"/>
              <a:t>moonphase</a:t>
            </a:r>
            <a:endParaRPr lang="en-US" dirty="0"/>
          </a:p>
          <a:p>
            <a:r>
              <a:rPr lang="en-US" dirty="0" err="1"/>
              <a:t>lattitude</a:t>
            </a:r>
            <a:endParaRPr lang="en-US" dirty="0"/>
          </a:p>
          <a:p>
            <a:r>
              <a:rPr lang="en-US" dirty="0" err="1"/>
              <a:t>days_temp</a:t>
            </a:r>
            <a:endParaRPr lang="en-US" dirty="0"/>
          </a:p>
          <a:p>
            <a:r>
              <a:rPr lang="en-US" dirty="0" err="1"/>
              <a:t>num_vehicles_in_crash</a:t>
            </a:r>
            <a:endParaRPr lang="en-US" dirty="0"/>
          </a:p>
          <a:p>
            <a:pPr marL="0" indent="0">
              <a:buNone/>
            </a:pPr>
            <a:endParaRPr lang="en-US" dirty="0"/>
          </a:p>
          <a:p>
            <a:r>
              <a:rPr lang="en-US" dirty="0"/>
              <a:t>These features represent environmental conditions and crash characteristics that may influence injury outcomes.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Modeling Approach</a:t>
            </a:r>
          </a:p>
        </p:txBody>
      </p:sp>
      <p:sp>
        <p:nvSpPr>
          <p:cNvPr id="3" name="Content Placeholder 2"/>
          <p:cNvSpPr>
            <a:spLocks noGrp="1"/>
          </p:cNvSpPr>
          <p:nvPr>
            <p:ph idx="1"/>
          </p:nvPr>
        </p:nvSpPr>
        <p:spPr/>
        <p:txBody>
          <a:bodyPr/>
          <a:lstStyle/>
          <a:p>
            <a:r>
              <a:rPr dirty="0"/>
              <a:t>Train-test split (80/20)</a:t>
            </a:r>
          </a:p>
          <a:p>
            <a:r>
              <a:rPr dirty="0"/>
              <a:t>Standardization applied</a:t>
            </a:r>
            <a:endParaRPr lang="en-US" dirty="0"/>
          </a:p>
          <a:p>
            <a:r>
              <a:rPr lang="en-US" dirty="0"/>
              <a:t>Cross-validation</a:t>
            </a:r>
          </a:p>
          <a:p>
            <a:pPr marL="0" indent="0">
              <a:buNone/>
            </a:pPr>
            <a:endParaRPr dirty="0"/>
          </a:p>
          <a:p>
            <a:r>
              <a:rPr dirty="0"/>
              <a:t>Models:</a:t>
            </a:r>
          </a:p>
          <a:p>
            <a:r>
              <a:rPr dirty="0"/>
              <a:t>- Logistic Regression</a:t>
            </a:r>
          </a:p>
          <a:p>
            <a:r>
              <a:rPr dirty="0"/>
              <a:t>- Decision Tree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Evaluation Metrics</a:t>
            </a:r>
          </a:p>
        </p:txBody>
      </p:sp>
      <p:sp>
        <p:nvSpPr>
          <p:cNvPr id="3" name="Content Placeholder 2"/>
          <p:cNvSpPr>
            <a:spLocks noGrp="1"/>
          </p:cNvSpPr>
          <p:nvPr>
            <p:ph idx="1"/>
          </p:nvPr>
        </p:nvSpPr>
        <p:spPr/>
        <p:txBody>
          <a:bodyPr/>
          <a:lstStyle/>
          <a:p>
            <a:r>
              <a:rPr dirty="0"/>
              <a:t>Accuracy</a:t>
            </a:r>
          </a:p>
          <a:p>
            <a:r>
              <a:rPr dirty="0"/>
              <a:t>Confusion Matrix</a:t>
            </a:r>
          </a:p>
          <a:p>
            <a:r>
              <a:rPr dirty="0"/>
              <a:t>ROC-AUC</a:t>
            </a:r>
          </a:p>
          <a:p>
            <a:r>
              <a:rPr dirty="0"/>
              <a:t>Classification Report</a:t>
            </a:r>
            <a:endParaRPr lang="en-US" dirty="0"/>
          </a:p>
          <a:p>
            <a:endParaRPr lang="en-US" dirty="0"/>
          </a:p>
          <a:p>
            <a:r>
              <a:rPr lang="en-US" dirty="0"/>
              <a:t>These metrics help measure how well the models predict injury outcomes.</a:t>
            </a:r>
          </a:p>
          <a:p>
            <a:pPr marL="0" indent="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normAutofit/>
          </a:bodyPr>
          <a:lstStyle/>
          <a:p>
            <a:r>
              <a:rPr lang="en-US" dirty="0"/>
              <a:t>The analysis helps identify:</a:t>
            </a:r>
          </a:p>
          <a:p>
            <a:pPr>
              <a:buFont typeface="Arial" panose="020B0604020202020204" pitchFamily="34" charset="0"/>
              <a:buChar char="•"/>
            </a:pPr>
            <a:r>
              <a:rPr lang="en-US" dirty="0"/>
              <a:t>Environmental conditions associated with higher injury risk</a:t>
            </a:r>
          </a:p>
          <a:p>
            <a:pPr>
              <a:buFont typeface="Arial" panose="020B0604020202020204" pitchFamily="34" charset="0"/>
              <a:buChar char="•"/>
            </a:pPr>
            <a:r>
              <a:rPr lang="en-US" dirty="0"/>
              <a:t>Crash patterns linked to severe accidents</a:t>
            </a:r>
          </a:p>
          <a:p>
            <a:pPr>
              <a:buFont typeface="Arial" panose="020B0604020202020204" pitchFamily="34" charset="0"/>
              <a:buChar char="•"/>
            </a:pPr>
            <a:r>
              <a:rPr lang="en-US" dirty="0"/>
              <a:t>Predictive indicators of injury-causing crashes</a:t>
            </a:r>
          </a:p>
          <a:p>
            <a:r>
              <a:rPr lang="en-US" dirty="0"/>
              <a:t>These insights can help authorities implement preventative measures to improve road safety.</a:t>
            </a:r>
            <a:br>
              <a:rPr lang="en-US" dirty="0"/>
            </a:b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a:xfrm>
            <a:off x="716691" y="1930400"/>
            <a:ext cx="6347714" cy="3880773"/>
          </a:xfrm>
        </p:spPr>
        <p:txBody>
          <a:bodyPr>
            <a:normAutofit fontScale="85000" lnSpcReduction="10000"/>
          </a:bodyPr>
          <a:lstStyle/>
          <a:p>
            <a:r>
              <a:rPr lang="en-US" dirty="0"/>
              <a:t>1. Since </a:t>
            </a:r>
            <a:r>
              <a:rPr lang="en-US" dirty="0" err="1"/>
              <a:t>num_vehicles_in_crash</a:t>
            </a:r>
            <a:r>
              <a:rPr lang="en-US" dirty="0"/>
              <a:t> is your strongest predictor, the city should prioritize on conflict point reduction. By converting high crash intersections into  round abouts or adding more signals. This will slow the speed of the cars and drivers will have ample time for reaction as well as reduce the number of injuries</a:t>
            </a:r>
          </a:p>
          <a:p>
            <a:r>
              <a:rPr lang="en-US" dirty="0"/>
              <a:t>.2. For location safety, because </a:t>
            </a:r>
            <a:r>
              <a:rPr lang="en-US" dirty="0" err="1"/>
              <a:t>lattitude</a:t>
            </a:r>
            <a:r>
              <a:rPr lang="en-US" dirty="0"/>
              <a:t> is a significant, the city should investigate the specific streets within the high risk </a:t>
            </a:r>
            <a:r>
              <a:rPr lang="en-US" dirty="0" err="1"/>
              <a:t>lattitude</a:t>
            </a:r>
            <a:r>
              <a:rPr lang="en-US" dirty="0"/>
              <a:t> zones. Then enforce speed cameras or increased patrols officers.</a:t>
            </a:r>
          </a:p>
          <a:p>
            <a:r>
              <a:rPr lang="en-US" dirty="0"/>
              <a:t>3. The city should issue amber alerts when there are changes in weather conditions, because different drivers react differently as well as focus on </a:t>
            </a:r>
            <a:r>
              <a:rPr lang="en-US" dirty="0" err="1"/>
              <a:t>infustructure</a:t>
            </a:r>
            <a:r>
              <a:rPr lang="en-US" dirty="0"/>
              <a:t> </a:t>
            </a:r>
            <a:r>
              <a:rPr lang="en-US" dirty="0" err="1"/>
              <a:t>diring</a:t>
            </a:r>
            <a:r>
              <a:rPr lang="en-US" dirty="0"/>
              <a:t> these weather changes</a:t>
            </a:r>
          </a:p>
          <a:p>
            <a:r>
              <a:rPr lang="en-US" dirty="0"/>
              <a:t>4. The city should integrate an emergency dispatch system. This is because we a 69% recall, which flags when a crash is likely to have an injury. </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rPr lang="en-US" dirty="0"/>
              <a:t>While a standard model prioritizes on accuracy, we optimized for recall. The model reveals that the more the cars at in intersections the higher the impact of accidents. The city should focus on multi vehicle intersections within the high risk </a:t>
            </a:r>
            <a:r>
              <a:rPr lang="en-US" dirty="0" err="1"/>
              <a:t>lattitude</a:t>
            </a:r>
            <a:r>
              <a:rPr lang="en-US" dirty="0"/>
              <a:t> and the allocate resources where they will have immediate impact on saving lives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1DBE2-7B1A-2FF2-D4BA-E1BEF582D1AC}"/>
              </a:ext>
            </a:extLst>
          </p:cNvPr>
          <p:cNvSpPr>
            <a:spLocks noGrp="1"/>
          </p:cNvSpPr>
          <p:nvPr>
            <p:ph type="title"/>
          </p:nvPr>
        </p:nvSpPr>
        <p:spPr/>
        <p:txBody>
          <a:bodyPr/>
          <a:lstStyle/>
          <a:p>
            <a:r>
              <a:rPr lang="en-US" dirty="0"/>
              <a:t>Project work flow</a:t>
            </a:r>
            <a:endParaRPr lang="en-KE" dirty="0"/>
          </a:p>
        </p:txBody>
      </p:sp>
      <p:sp>
        <p:nvSpPr>
          <p:cNvPr id="3" name="Content Placeholder 2">
            <a:extLst>
              <a:ext uri="{FF2B5EF4-FFF2-40B4-BE49-F238E27FC236}">
                <a16:creationId xmlns:a16="http://schemas.microsoft.com/office/drawing/2014/main" id="{E48E83AA-D4D2-2C1B-2980-1D60B5E2D6D2}"/>
              </a:ext>
            </a:extLst>
          </p:cNvPr>
          <p:cNvSpPr>
            <a:spLocks noGrp="1"/>
          </p:cNvSpPr>
          <p:nvPr>
            <p:ph idx="1"/>
          </p:nvPr>
        </p:nvSpPr>
        <p:spPr/>
        <p:txBody>
          <a:bodyPr>
            <a:normAutofit/>
          </a:bodyPr>
          <a:lstStyle/>
          <a:p>
            <a:r>
              <a:rPr lang="en-US" dirty="0"/>
              <a:t>1.  Business Understanding</a:t>
            </a:r>
          </a:p>
          <a:p>
            <a:r>
              <a:rPr lang="en-US" dirty="0"/>
              <a:t>2.  Data Understanding</a:t>
            </a:r>
          </a:p>
          <a:p>
            <a:r>
              <a:rPr lang="en-US" dirty="0"/>
              <a:t>3.  Data Preparation</a:t>
            </a:r>
          </a:p>
          <a:p>
            <a:r>
              <a:rPr lang="en-US" dirty="0"/>
              <a:t>4.  Modeling</a:t>
            </a:r>
          </a:p>
          <a:p>
            <a:r>
              <a:rPr lang="en-US" dirty="0"/>
              <a:t>5.  Evaluation</a:t>
            </a:r>
          </a:p>
          <a:p>
            <a:r>
              <a:rPr lang="en-US" dirty="0"/>
              <a:t>6.  Conclusion and Recommendations</a:t>
            </a:r>
          </a:p>
          <a:p>
            <a:endParaRPr lang="en-KE" dirty="0"/>
          </a:p>
        </p:txBody>
      </p:sp>
    </p:spTree>
    <p:extLst>
      <p:ext uri="{BB962C8B-B14F-4D97-AF65-F5344CB8AC3E}">
        <p14:creationId xmlns:p14="http://schemas.microsoft.com/office/powerpoint/2010/main" val="162466388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TotalTime>
  <Words>655</Words>
  <Application>Microsoft Office PowerPoint</Application>
  <PresentationFormat>On-screen Show (4:3)</PresentationFormat>
  <Paragraphs>80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Trebuchet MS</vt:lpstr>
      <vt:lpstr>Wingdings 3</vt:lpstr>
      <vt:lpstr>Facet</vt:lpstr>
      <vt:lpstr>Chicago Car Crash Prediction</vt:lpstr>
      <vt:lpstr>Business Problem</vt:lpstr>
      <vt:lpstr>Stakeholders</vt:lpstr>
      <vt:lpstr>Key Questions</vt:lpstr>
      <vt:lpstr>Data Understanding</vt:lpstr>
      <vt:lpstr>Data Preparation</vt:lpstr>
      <vt:lpstr>Feature Engineering</vt:lpstr>
      <vt:lpstr>Modeling Approach</vt:lpstr>
      <vt:lpstr>Evaluation Metrics</vt:lpstr>
      <vt:lpstr>Key Insights</vt:lpstr>
      <vt:lpstr>Recommendations</vt:lpstr>
      <vt:lpstr>Conclusion</vt:lpstr>
      <vt:lpstr>Project work flow</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dc:creator>
  <cp:keywords/>
  <dc:description>generated using python-pptx</dc:description>
  <cp:lastModifiedBy>Dell</cp:lastModifiedBy>
  <cp:revision>2</cp:revision>
  <dcterms:created xsi:type="dcterms:W3CDTF">2013-01-27T09:14:16Z</dcterms:created>
  <dcterms:modified xsi:type="dcterms:W3CDTF">2026-03-17T03:30:33Z</dcterms:modified>
  <cp:category/>
</cp:coreProperties>
</file>